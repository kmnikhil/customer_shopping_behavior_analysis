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 Medium" panose="020F0502020204030204" pitchFamily="2" charset="0"/>
      <p:regular r:id="rId13"/>
    </p:embeddedFont>
    <p:embeddedFont>
      <p:font typeface="Inter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382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</a:t>
            </a:r>
            <a:r>
              <a:rPr lang="en-US" sz="11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product categories, customer segments, and subscription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22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222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4434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5768206" y="34434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span demographics, purchase details, shopping behavior, and subscription status.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" y="101203"/>
            <a:ext cx="3294013" cy="4941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26169"/>
            <a:ext cx="472827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Preparation in Python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3925119" y="1041648"/>
            <a:ext cx="4722763" cy="769590"/>
          </a:xfrm>
          <a:prstGeom prst="roundRect">
            <a:avLst>
              <a:gd name="adj" fmla="val 2634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4060180" y="117671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Clean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0180" y="1465064"/>
            <a:ext cx="44526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missing Review Ratings using median by category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25119" y="1939975"/>
            <a:ext cx="4722763" cy="980703"/>
          </a:xfrm>
          <a:prstGeom prst="roundRect">
            <a:avLst>
              <a:gd name="adj" fmla="val 2067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4060180" y="207503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60180" y="2363391"/>
            <a:ext cx="44526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Renamed columns to snake_case; dropped redundant promo_code_used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049414"/>
            <a:ext cx="4722763" cy="769590"/>
          </a:xfrm>
          <a:prstGeom prst="roundRect">
            <a:avLst>
              <a:gd name="adj" fmla="val 2634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4060180" y="318447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0180" y="3472830"/>
            <a:ext cx="44526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age_group bins and purchase_frequency_days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25119" y="3947740"/>
            <a:ext cx="4722763" cy="769590"/>
          </a:xfrm>
          <a:prstGeom prst="roundRect">
            <a:avLst>
              <a:gd name="adj" fmla="val 2634"/>
            </a:avLst>
          </a:prstGeom>
          <a:solidFill>
            <a:srgbClr val="4C5052"/>
          </a:solidFill>
          <a:ln/>
        </p:spPr>
      </p:sp>
      <p:sp>
        <p:nvSpPr>
          <p:cNvPr id="15" name="Text 12"/>
          <p:cNvSpPr/>
          <p:nvPr/>
        </p:nvSpPr>
        <p:spPr>
          <a:xfrm>
            <a:off x="4060180" y="408280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0180" y="4371156"/>
            <a:ext cx="44526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PostgreSQL for SQL analysis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6852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Male customers drive </a:t>
            </a:r>
            <a:r>
              <a:rPr lang="en-US" sz="13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2x more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Male: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$157,890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Female: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$75,191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shoppers also represent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customer base (2,652 of 3,900).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776"/>
            <a:ext cx="543899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Product &amp; Shipping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23504"/>
            <a:ext cx="240595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 5 Products by Rating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6119" y="1471315"/>
            <a:ext cx="3913808" cy="2222897"/>
          </a:xfrm>
          <a:prstGeom prst="roundRect">
            <a:avLst>
              <a:gd name="adj" fmla="val 89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3859" y="1555552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85963" y="1555552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3859" y="1925241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85963" y="1925241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3859" y="2294930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85963" y="2294930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3859" y="2664619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85963" y="2664619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3859" y="3034308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5963" y="3034308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3859" y="3403997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5963" y="3403997"/>
            <a:ext cx="21434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8836" y="1123504"/>
            <a:ext cx="26612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Shipping Type — Avg. Spend</a:t>
            </a:r>
            <a:endParaRPr lang="en-US" sz="13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836" y="1471315"/>
            <a:ext cx="3913808" cy="2817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738836" y="4428604"/>
            <a:ext cx="43710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customers spend slightly more on average.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9423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4301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Non-subscribers dominate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 of customers are non-subscribers, generating </a:t>
            </a:r>
            <a:r>
              <a:rPr lang="en-US" sz="11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total revenue.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is nearly identical: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(subscribers) vs.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(non-subscribers).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115764"/>
            <a:ext cx="45362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771352"/>
            <a:ext cx="4722763" cy="1643211"/>
          </a:xfrm>
          <a:prstGeom prst="roundRect">
            <a:avLst>
              <a:gd name="adj" fmla="val 1294"/>
            </a:avLst>
          </a:prstGeom>
          <a:solidFill>
            <a:srgbClr val="4C5052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1771352"/>
            <a:ext cx="2361381" cy="821606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191311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🆕</a:t>
            </a: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New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224385"/>
            <a:ext cx="20778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1771352"/>
            <a:ext cx="2361381" cy="821606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1771352"/>
            <a:ext cx="19050" cy="821606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191311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🔄</a:t>
            </a: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2224385"/>
            <a:ext cx="20778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2592958"/>
            <a:ext cx="4722763" cy="821606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496119" y="2592958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5" name="Text 12"/>
          <p:cNvSpPr/>
          <p:nvPr/>
        </p:nvSpPr>
        <p:spPr>
          <a:xfrm>
            <a:off x="637877" y="273471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⭐</a:t>
            </a: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Loyal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7877" y="304599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6119" y="357403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loyal customers,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subscriptions vs.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2,518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— repeat buyers are not automatically subscribing.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2389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658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Young Adults lead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contribute the most at </a:t>
            </a:r>
            <a:r>
              <a:rPr lang="en-US" sz="11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$62,143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revenue declining slightly across older groups.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287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474988" y="1410221"/>
            <a:ext cx="25394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Interactive Visualizations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8120" y="1798216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35685" y="1791146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&amp; sales by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8120" y="2514079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35685" y="2507010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&amp; sales by </a:t>
            </a: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8120" y="3229942"/>
            <a:ext cx="212601" cy="2126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35685" y="3222873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 breakdown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8120" y="3945806"/>
            <a:ext cx="212601" cy="21260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935685" y="3938736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Filters: gender, category, shipping type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0D4376-9795-9658-6A2D-89EBA60D0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94" y="2138273"/>
            <a:ext cx="2978763" cy="1632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4488"/>
            <a:ext cx="51549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70993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9196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70993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9196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grow Loyal segment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870993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919660"/>
            <a:ext cx="19119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63317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011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31849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2963317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011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318495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and best-selling products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On-screen Show (16:9)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nikhil km</cp:lastModifiedBy>
  <cp:revision>2</cp:revision>
  <dcterms:created xsi:type="dcterms:W3CDTF">2026-06-13T15:16:44Z</dcterms:created>
  <dcterms:modified xsi:type="dcterms:W3CDTF">2026-06-13T15:18:51Z</dcterms:modified>
</cp:coreProperties>
</file>